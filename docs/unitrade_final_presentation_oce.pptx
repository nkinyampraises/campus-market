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982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14688" y="785813"/>
            <a:ext cx="5357813" cy="3571875"/>
          </a:xfrm>
          <a:prstGeom prst="rect">
            <a:avLst/>
          </a:prstGeom>
          <a:solidFill>
            <a:srgbClr val="FFFFFF">
              <a:alpha val="75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643313" y="972174"/>
            <a:ext cx="450056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ICT UNIVERSITY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43313" y="1387673"/>
            <a:ext cx="450056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95C">
                    <a:alpha val="80000"/>
                  </a:srgbClr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Faculty of Information and Communication Technologies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643313" y="1912023"/>
            <a:ext cx="4500563" cy="147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UNITRADE MARKET: A Student-to-Student Marketplace Integrating Real-Time Communication, Escrow Payment Order Management and AI-Assisted Trading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615248" y="3574526"/>
            <a:ext cx="21431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PRESENTED BY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620957" y="3768787"/>
            <a:ext cx="164788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Nkinyam Praises Ncha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20957" y="4094062"/>
            <a:ext cx="21431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Matricule</a:t>
            </a:r>
            <a:r>
              <a:rPr lang="en-US" sz="12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: ICTU20233776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143625" y="3578110"/>
            <a:ext cx="21431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SUPERVISOR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143625" y="3891898"/>
            <a:ext cx="117384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Engr. Tekoh Palma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410848" y="4700588"/>
            <a:ext cx="216165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>
                    <a:alpha val="60000"/>
                  </a:srgbClr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Academic Year: 2025–2026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BBB939-0176-4CC0-BFE5-D23DE95AB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1111" y="501476"/>
            <a:ext cx="3719563" cy="416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064419"/>
            <a:ext cx="3014663" cy="3014663"/>
          </a:xfrm>
          <a:prstGeom prst="ellipse">
            <a:avLst/>
          </a:prstGeom>
          <a:solidFill>
            <a:srgbClr val="FFFFFF"/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88070" y="2202917"/>
            <a:ext cx="170559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729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8431" y="2621183"/>
            <a:ext cx="2320800" cy="36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PLAN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00563" y="596503"/>
            <a:ext cx="357188" cy="3571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4500563" y="59650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00625" y="571500"/>
            <a:ext cx="3014663" cy="407194"/>
          </a:xfrm>
          <a:prstGeom prst="rect">
            <a:avLst/>
          </a:prstGeom>
          <a:solidFill>
            <a:srgbClr val="21295C">
              <a:alpha val="5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00625" y="571500"/>
            <a:ext cx="3014663" cy="255198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Motivational Example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00563" y="1231097"/>
            <a:ext cx="357188" cy="3571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8"/>
          <p:cNvSpPr/>
          <p:nvPr/>
        </p:nvSpPr>
        <p:spPr>
          <a:xfrm>
            <a:off x="4500563" y="1231097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00625" y="1206094"/>
            <a:ext cx="3014663" cy="407194"/>
          </a:xfrm>
          <a:prstGeom prst="rect">
            <a:avLst/>
          </a:prstGeom>
          <a:solidFill>
            <a:srgbClr val="21295C">
              <a:alpha val="5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00625" y="1206094"/>
            <a:ext cx="3014663" cy="255198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Aim and Objectives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00563" y="1870435"/>
            <a:ext cx="357188" cy="3571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2"/>
          <p:cNvSpPr/>
          <p:nvPr/>
        </p:nvSpPr>
        <p:spPr>
          <a:xfrm>
            <a:off x="4500563" y="1870435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00625" y="1845432"/>
            <a:ext cx="3014663" cy="407194"/>
          </a:xfrm>
          <a:prstGeom prst="rect">
            <a:avLst/>
          </a:prstGeom>
          <a:solidFill>
            <a:srgbClr val="21295C">
              <a:alpha val="5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00625" y="1845432"/>
            <a:ext cx="3014663" cy="255198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Research Questions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500563" y="2514600"/>
            <a:ext cx="357188" cy="3571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6"/>
          <p:cNvSpPr/>
          <p:nvPr/>
        </p:nvSpPr>
        <p:spPr>
          <a:xfrm>
            <a:off x="4500563" y="2514600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00625" y="2489597"/>
            <a:ext cx="3014663" cy="407194"/>
          </a:xfrm>
          <a:prstGeom prst="rect">
            <a:avLst/>
          </a:prstGeom>
          <a:solidFill>
            <a:srgbClr val="21295C">
              <a:alpha val="5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00625" y="2489597"/>
            <a:ext cx="3014663" cy="255198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Review of Similar Projects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00563" y="3163453"/>
            <a:ext cx="357188" cy="3571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0"/>
          <p:cNvSpPr/>
          <p:nvPr/>
        </p:nvSpPr>
        <p:spPr>
          <a:xfrm>
            <a:off x="4500563" y="316345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00625" y="3138450"/>
            <a:ext cx="3014663" cy="407194"/>
          </a:xfrm>
          <a:prstGeom prst="rect">
            <a:avLst/>
          </a:prstGeom>
          <a:solidFill>
            <a:srgbClr val="21295C">
              <a:alpha val="5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00625" y="3138450"/>
            <a:ext cx="3014663" cy="255198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Research Methodology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00563" y="3817051"/>
            <a:ext cx="357188" cy="3571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7" name="Text 24"/>
          <p:cNvSpPr/>
          <p:nvPr/>
        </p:nvSpPr>
        <p:spPr>
          <a:xfrm>
            <a:off x="4500563" y="3817051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00625" y="3792048"/>
            <a:ext cx="3014663" cy="407194"/>
          </a:xfrm>
          <a:prstGeom prst="rect">
            <a:avLst/>
          </a:prstGeom>
          <a:solidFill>
            <a:srgbClr val="21295C">
              <a:alpha val="5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00625" y="3792048"/>
            <a:ext cx="3014663" cy="255198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Results and Discussion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500563" y="4475559"/>
            <a:ext cx="357188" cy="3571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8"/>
          <p:cNvSpPr/>
          <p:nvPr/>
        </p:nvSpPr>
        <p:spPr>
          <a:xfrm>
            <a:off x="4500563" y="447555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00625" y="4450556"/>
            <a:ext cx="3014663" cy="407194"/>
          </a:xfrm>
          <a:prstGeom prst="rect">
            <a:avLst/>
          </a:prstGeom>
          <a:solidFill>
            <a:srgbClr val="21295C">
              <a:alpha val="5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0625" y="4450556"/>
            <a:ext cx="3014663" cy="255198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Conclusion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4314825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Motivational Example</a:t>
            </a:r>
            <a:endParaRPr lang="en-US" sz="1600" dirty="0">
              <a:solidFill>
                <a:srgbClr val="00B0F0"/>
              </a:solidFill>
            </a:endParaRPr>
          </a:p>
          <a:p>
            <a:pPr marL="0" indent="0" algn="l">
              <a:buNone/>
            </a:pP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28625" y="950000"/>
            <a:ext cx="335756" cy="335756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09" y="1053585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969" y="950000"/>
            <a:ext cx="3850481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New Arrival: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Students arriving in a new city struggle to find affordable essentials like beds and study tables.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28625" y="1600000"/>
            <a:ext cx="335756" cy="335756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09" y="1703584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2969" y="1600000"/>
            <a:ext cx="3850481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High Costs: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Moving between markets incurs transport costs and prices far beyond a student budget.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428625" y="2250000"/>
            <a:ext cx="335756" cy="335756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209" y="2353584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2969" y="2250000"/>
            <a:ext cx="3850481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The Gap: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Graduating students have items to sell but lack a trusted way to reach those in need.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428625" y="2900000"/>
            <a:ext cx="335756" cy="335756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209" y="3003584"/>
            <a:ext cx="114300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2969" y="2900000"/>
            <a:ext cx="3850481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Platform Risks: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WhatsApp and Facebook groups are rife with scammers and disappearing messages.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5457825" y="1557338"/>
            <a:ext cx="3257550" cy="2457450"/>
          </a:xfrm>
          <a:prstGeom prst="rect">
            <a:avLst/>
          </a:prstGeom>
          <a:solidFill>
            <a:srgbClr val="21295C">
              <a:alpha val="3000"/>
            </a:srgbClr>
          </a:solidFill>
          <a:ln w="18288">
            <a:solidFill>
              <a:srgbClr val="1C7293"/>
            </a:solidFill>
            <a:prstDash val="dash"/>
          </a:ln>
        </p:spPr>
      </p:sp>
      <p:sp>
        <p:nvSpPr>
          <p:cNvPr id="18" name="Text 11"/>
          <p:cNvSpPr/>
          <p:nvPr/>
        </p:nvSpPr>
        <p:spPr>
          <a:xfrm>
            <a:off x="5743575" y="2344629"/>
            <a:ext cx="26860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THE INSPIRATION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743575" y="2678610"/>
            <a:ext cx="268605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"What if there was a secure platform built specifically to connect these students?"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5743575" y="3530000"/>
            <a:ext cx="26860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UNITRADE MARKET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1885" y="-19147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36518" y="1339352"/>
            <a:ext cx="2785945" cy="2751033"/>
          </a:xfrm>
          <a:prstGeom prst="ellipse">
            <a:avLst/>
          </a:prstGeom>
          <a:solidFill>
            <a:srgbClr val="21295C"/>
          </a:solidFill>
          <a:ln w="27432">
            <a:solidFill>
              <a:srgbClr val="1C7293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3762804" y="1887624"/>
            <a:ext cx="161839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PRIMARY AIM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429000" y="2332323"/>
            <a:ext cx="2286000" cy="93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To design, develop and evaluate a secure student-to-student marketplace that enables safe, efficient, and reliable transactions among university students in Cameroon.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91885" y="561409"/>
            <a:ext cx="3107531" cy="1203045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64293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7263" y="652000"/>
            <a:ext cx="993862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OBJECTIVE 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78656" y="885825"/>
            <a:ext cx="2750000" cy="711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Identify challenges faced by students when buying and selling items.</a:t>
            </a:r>
            <a:r>
              <a:rPr lang="en-US" sz="1100" dirty="0">
                <a:solidFill>
                  <a:srgbClr val="21295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local markets and when using WhatsApp groups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532598" y="552871"/>
            <a:ext cx="3107531" cy="1203044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438" y="642938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07906" y="652000"/>
            <a:ext cx="993862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OBJECTIVE 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786438" y="885825"/>
            <a:ext cx="2750000" cy="892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and implement a dedicated student marketplace platform with verified profiles, structured listings, and secure authentication.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64344" y="3571875"/>
            <a:ext cx="3107531" cy="1330000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56" y="3786188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7263" y="3795000"/>
            <a:ext cx="993862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OBJECTIVE 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78656" y="4029075"/>
            <a:ext cx="275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Integrate real-time communication and escrow payment transaction management system.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5572125" y="3571874"/>
            <a:ext cx="3107531" cy="1380000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6438" y="3786188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65044" y="3795000"/>
            <a:ext cx="993862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OBJECTIVE 04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5786438" y="4029075"/>
            <a:ext cx="2750000" cy="892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 the effectiveness, usability, and security of the platform through functional testing and feedback from student users.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9F3962E1-A984-40F3-9AEE-D13FA01FF7F2}"/>
              </a:ext>
            </a:extLst>
          </p:cNvPr>
          <p:cNvSpPr/>
          <p:nvPr/>
        </p:nvSpPr>
        <p:spPr>
          <a:xfrm>
            <a:off x="2453164" y="-63338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Aim and Objectives</a:t>
            </a:r>
            <a:endParaRPr lang="en-US" sz="3000" dirty="0">
              <a:solidFill>
                <a:srgbClr val="1C72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" y="455456"/>
            <a:ext cx="9144000" cy="39332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64682" y="1475621"/>
            <a:ext cx="2907506" cy="2645916"/>
          </a:xfrm>
          <a:prstGeom prst="ellipse">
            <a:avLst/>
          </a:prstGeom>
          <a:solidFill>
            <a:srgbClr val="21295C"/>
          </a:solidFill>
          <a:ln w="27432">
            <a:solidFill>
              <a:srgbClr val="1C7293"/>
            </a:solidFill>
            <a:prstDash val="dash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323" y="1716630"/>
            <a:ext cx="3429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313482" y="2147935"/>
            <a:ext cx="2576582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MAIN RESEARCH QUESTION</a:t>
            </a:r>
            <a:endParaRPr lang="en-US" sz="11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403997" y="2517177"/>
            <a:ext cx="2428875" cy="877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How can a student-to-student marketplace integrating real-time communication, payment, and AI improve security, efficiency, and reliability of transactions among university students in Cameroon?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21482" y="815686"/>
            <a:ext cx="3107531" cy="1143000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78" y="959780"/>
            <a:ext cx="200735" cy="2007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5801" y="991238"/>
            <a:ext cx="92172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QUESTION 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36992" y="1434200"/>
            <a:ext cx="2750344" cy="36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What challenges do students face during student-to-student trading?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5594891" y="778479"/>
            <a:ext cx="3107531" cy="1143000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4879" y="991238"/>
            <a:ext cx="275532" cy="2106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18215" y="1011948"/>
            <a:ext cx="92172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QUESTION 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700713" y="1306419"/>
            <a:ext cx="2750344" cy="36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What features should a dedicated marketplace provide?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43465" y="3622032"/>
            <a:ext cx="3107531" cy="1264817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17" y="3810730"/>
            <a:ext cx="218031" cy="21803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88941" y="3850842"/>
            <a:ext cx="92172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QUESTION 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550175" y="4058393"/>
            <a:ext cx="2362826" cy="9337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can trust and transaction security be 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improved through escrow payment 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management and real-time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communication?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5590064" y="3658767"/>
            <a:ext cx="3107531" cy="1228083"/>
          </a:xfrm>
          <a:prstGeom prst="rect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2151" y="3901274"/>
            <a:ext cx="258260" cy="2582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00160" y="3952260"/>
            <a:ext cx="92172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QUESTION 04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750719" y="4262039"/>
            <a:ext cx="2263440" cy="7441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effective is the proposed </a:t>
            </a:r>
            <a:r>
              <a:rPr lang="en-US" sz="1100" dirty="0" err="1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Unitrade</a:t>
            </a: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 system in meeting the needs and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expectations  of university students?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A4E18CA6-FC45-47D4-B318-E14F8397C3F1}"/>
              </a:ext>
            </a:extLst>
          </p:cNvPr>
          <p:cNvSpPr/>
          <p:nvPr/>
        </p:nvSpPr>
        <p:spPr>
          <a:xfrm>
            <a:off x="1004834" y="161012"/>
            <a:ext cx="6683269" cy="469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Research</a:t>
            </a:r>
            <a:r>
              <a:rPr lang="en-US" sz="3000" b="1" dirty="0">
                <a:solidFill>
                  <a:srgbClr val="065A8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rgbClr val="1C729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Questions</a:t>
            </a:r>
            <a:endParaRPr lang="en-US" sz="3000" dirty="0">
              <a:solidFill>
                <a:srgbClr val="1C72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2316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REVIEW OF SIMILAR PROJECTS</a:t>
            </a:r>
            <a:endParaRPr lang="en-US" sz="2100" dirty="0">
              <a:solidFill>
                <a:srgbClr val="1C72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ableBorder"/>
          <p:cNvSpPr/>
          <p:nvPr/>
        </p:nvSpPr>
        <p:spPr>
          <a:xfrm>
            <a:off x="480000" y="1080492"/>
            <a:ext cx="5212080" cy="2120000"/>
          </a:xfrm>
          <a:prstGeom prst="rect">
            <a:avLst/>
          </a:prstGeom>
          <a:solidFill>
            <a:srgbClr val="FFFFFF"/>
          </a:solidFill>
          <a:ln w="9144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2" name="HeaderBg102"/>
          <p:cNvSpPr/>
          <p:nvPr/>
        </p:nvSpPr>
        <p:spPr>
          <a:xfrm>
            <a:off x="480000" y="1080492"/>
            <a:ext cx="1417320" cy="400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3" name="HeaderTxt103"/>
          <p:cNvSpPr/>
          <p:nvPr/>
        </p:nvSpPr>
        <p:spPr>
          <a:xfrm>
            <a:off x="480000" y="1080492"/>
            <a:ext cx="1417320" cy="400000"/>
          </a:xfrm>
          <a:prstGeom prst="rect">
            <a:avLst/>
          </a:prstGeom>
          <a:noFill/>
          <a:ln/>
        </p:spPr>
        <p:txBody>
          <a:bodyPr wrap="non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PLATFORM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HeaderBg104"/>
          <p:cNvSpPr/>
          <p:nvPr/>
        </p:nvSpPr>
        <p:spPr>
          <a:xfrm>
            <a:off x="1897320" y="1080492"/>
            <a:ext cx="777240" cy="400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5" name="HeaderTxt105"/>
          <p:cNvSpPr/>
          <p:nvPr/>
        </p:nvSpPr>
        <p:spPr>
          <a:xfrm>
            <a:off x="1897320" y="1080492"/>
            <a:ext cx="777240" cy="400000"/>
          </a:xfrm>
          <a:prstGeom prst="rect">
            <a:avLst/>
          </a:prstGeom>
          <a:noFill/>
          <a:ln/>
        </p:spPr>
        <p:txBody>
          <a:bodyPr wrap="non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LISTINGS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HeaderBg106"/>
          <p:cNvSpPr/>
          <p:nvPr/>
        </p:nvSpPr>
        <p:spPr>
          <a:xfrm>
            <a:off x="2674560" y="1080492"/>
            <a:ext cx="621792" cy="400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7" name="HeaderTxt107"/>
          <p:cNvSpPr/>
          <p:nvPr/>
        </p:nvSpPr>
        <p:spPr>
          <a:xfrm>
            <a:off x="2674560" y="1080492"/>
            <a:ext cx="621792" cy="400000"/>
          </a:xfrm>
          <a:prstGeom prst="rect">
            <a:avLst/>
          </a:prstGeom>
          <a:noFill/>
          <a:ln/>
        </p:spPr>
        <p:txBody>
          <a:bodyPr wrap="non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CHAT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HeaderBg108"/>
          <p:cNvSpPr/>
          <p:nvPr/>
        </p:nvSpPr>
        <p:spPr>
          <a:xfrm>
            <a:off x="3296352" y="1080492"/>
            <a:ext cx="502920" cy="400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9" name="HeaderTxt109"/>
          <p:cNvSpPr/>
          <p:nvPr/>
        </p:nvSpPr>
        <p:spPr>
          <a:xfrm>
            <a:off x="3296352" y="1080492"/>
            <a:ext cx="502920" cy="400000"/>
          </a:xfrm>
          <a:prstGeom prst="rect">
            <a:avLst/>
          </a:prstGeom>
          <a:noFill/>
          <a:ln/>
        </p:spPr>
        <p:txBody>
          <a:bodyPr wrap="non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A/V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HeaderBg110"/>
          <p:cNvSpPr/>
          <p:nvPr/>
        </p:nvSpPr>
        <p:spPr>
          <a:xfrm>
            <a:off x="3799272" y="1080492"/>
            <a:ext cx="731520" cy="400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1" name="HeaderTxt111"/>
          <p:cNvSpPr/>
          <p:nvPr/>
        </p:nvSpPr>
        <p:spPr>
          <a:xfrm>
            <a:off x="3799272" y="1080492"/>
            <a:ext cx="731520" cy="400000"/>
          </a:xfrm>
          <a:prstGeom prst="rect">
            <a:avLst/>
          </a:prstGeom>
          <a:noFill/>
          <a:ln/>
        </p:spPr>
        <p:txBody>
          <a:bodyPr wrap="non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ESCROW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HeaderBg112"/>
          <p:cNvSpPr/>
          <p:nvPr/>
        </p:nvSpPr>
        <p:spPr>
          <a:xfrm>
            <a:off x="4530792" y="1080492"/>
            <a:ext cx="658368" cy="400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3" name="HeaderTxt113"/>
          <p:cNvSpPr/>
          <p:nvPr/>
        </p:nvSpPr>
        <p:spPr>
          <a:xfrm>
            <a:off x="4530792" y="1080492"/>
            <a:ext cx="658368" cy="400000"/>
          </a:xfrm>
          <a:prstGeom prst="rect">
            <a:avLst/>
          </a:prstGeom>
          <a:noFill/>
          <a:ln/>
        </p:spPr>
        <p:txBody>
          <a:bodyPr wrap="non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ADMIN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HeaderBg114"/>
          <p:cNvSpPr/>
          <p:nvPr/>
        </p:nvSpPr>
        <p:spPr>
          <a:xfrm>
            <a:off x="5189160" y="1080492"/>
            <a:ext cx="502920" cy="400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5" name="HeaderTxt115"/>
          <p:cNvSpPr/>
          <p:nvPr/>
        </p:nvSpPr>
        <p:spPr>
          <a:xfrm>
            <a:off x="5189160" y="1080492"/>
            <a:ext cx="502920" cy="400000"/>
          </a:xfrm>
          <a:prstGeom prst="rect">
            <a:avLst/>
          </a:prstGeom>
          <a:noFill/>
          <a:ln/>
        </p:spPr>
        <p:txBody>
          <a:bodyPr wrap="non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RowLabel116"/>
          <p:cNvSpPr/>
          <p:nvPr/>
        </p:nvSpPr>
        <p:spPr>
          <a:xfrm>
            <a:off x="480000" y="1480492"/>
            <a:ext cx="1417320" cy="430000"/>
          </a:xfrm>
          <a:prstGeom prst="rect">
            <a:avLst/>
          </a:prstGeom>
          <a:noFill/>
          <a:ln/>
        </p:spPr>
        <p:txBody>
          <a:bodyPr wrap="squar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Campus</a:t>
            </a:r>
            <a:r>
              <a:rPr lang="en-US" sz="1100" dirty="0">
                <a:solidFill>
                  <a:srgbClr val="2129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Stalls</a:t>
            </a:r>
            <a:endParaRPr lang="en-US" sz="1100" dirty="0"/>
          </a:p>
        </p:txBody>
      </p:sp>
      <p:pic>
        <p:nvPicPr>
          <p:cNvPr id="117" name="Icon1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940" y="1595492"/>
            <a:ext cx="200000" cy="200000"/>
          </a:xfrm>
          <a:prstGeom prst="rect">
            <a:avLst/>
          </a:prstGeom>
        </p:spPr>
      </p:pic>
      <p:pic>
        <p:nvPicPr>
          <p:cNvPr id="118" name="Icon1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5456" y="1595492"/>
            <a:ext cx="200000" cy="200000"/>
          </a:xfrm>
          <a:prstGeom prst="rect">
            <a:avLst/>
          </a:prstGeom>
        </p:spPr>
      </p:pic>
      <p:pic>
        <p:nvPicPr>
          <p:cNvPr id="119" name="Icon1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812" y="1595492"/>
            <a:ext cx="200000" cy="200000"/>
          </a:xfrm>
          <a:prstGeom prst="rect">
            <a:avLst/>
          </a:prstGeom>
        </p:spPr>
      </p:pic>
      <p:pic>
        <p:nvPicPr>
          <p:cNvPr id="120" name="Icon1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032" y="1595492"/>
            <a:ext cx="200000" cy="200000"/>
          </a:xfrm>
          <a:prstGeom prst="rect">
            <a:avLst/>
          </a:prstGeom>
        </p:spPr>
      </p:pic>
      <p:pic>
        <p:nvPicPr>
          <p:cNvPr id="121" name="Icon1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9976" y="1595492"/>
            <a:ext cx="200000" cy="200000"/>
          </a:xfrm>
          <a:prstGeom prst="rect">
            <a:avLst/>
          </a:prstGeom>
        </p:spPr>
      </p:pic>
      <p:pic>
        <p:nvPicPr>
          <p:cNvPr id="122" name="Icon12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620" y="1595492"/>
            <a:ext cx="200000" cy="200000"/>
          </a:xfrm>
          <a:prstGeom prst="rect">
            <a:avLst/>
          </a:prstGeom>
        </p:spPr>
      </p:pic>
      <p:sp>
        <p:nvSpPr>
          <p:cNvPr id="123" name="RowLabel123"/>
          <p:cNvSpPr/>
          <p:nvPr/>
        </p:nvSpPr>
        <p:spPr>
          <a:xfrm>
            <a:off x="480000" y="1910492"/>
            <a:ext cx="1417320" cy="430000"/>
          </a:xfrm>
          <a:prstGeom prst="rect">
            <a:avLst/>
          </a:prstGeom>
          <a:noFill/>
          <a:ln/>
        </p:spPr>
        <p:txBody>
          <a:bodyPr wrap="squar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Connect Sphere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4" name="Icon1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5940" y="2025492"/>
            <a:ext cx="200000" cy="200000"/>
          </a:xfrm>
          <a:prstGeom prst="rect">
            <a:avLst/>
          </a:prstGeom>
        </p:spPr>
      </p:pic>
      <p:pic>
        <p:nvPicPr>
          <p:cNvPr id="125" name="Icon1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5456" y="2025492"/>
            <a:ext cx="200000" cy="200000"/>
          </a:xfrm>
          <a:prstGeom prst="rect">
            <a:avLst/>
          </a:prstGeom>
        </p:spPr>
      </p:pic>
      <p:pic>
        <p:nvPicPr>
          <p:cNvPr id="126" name="Icon1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812" y="2025492"/>
            <a:ext cx="200000" cy="200000"/>
          </a:xfrm>
          <a:prstGeom prst="rect">
            <a:avLst/>
          </a:prstGeom>
        </p:spPr>
      </p:pic>
      <p:pic>
        <p:nvPicPr>
          <p:cNvPr id="127" name="Icon1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5032" y="2025492"/>
            <a:ext cx="200000" cy="200000"/>
          </a:xfrm>
          <a:prstGeom prst="rect">
            <a:avLst/>
          </a:prstGeom>
        </p:spPr>
      </p:pic>
      <p:pic>
        <p:nvPicPr>
          <p:cNvPr id="128" name="Icon1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9976" y="2025492"/>
            <a:ext cx="200000" cy="200000"/>
          </a:xfrm>
          <a:prstGeom prst="rect">
            <a:avLst/>
          </a:prstGeom>
        </p:spPr>
      </p:pic>
      <p:pic>
        <p:nvPicPr>
          <p:cNvPr id="129" name="Icon12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620" y="2025492"/>
            <a:ext cx="200000" cy="200000"/>
          </a:xfrm>
          <a:prstGeom prst="rect">
            <a:avLst/>
          </a:prstGeom>
        </p:spPr>
      </p:pic>
      <p:sp>
        <p:nvSpPr>
          <p:cNvPr id="130" name="RowLabel130"/>
          <p:cNvSpPr/>
          <p:nvPr/>
        </p:nvSpPr>
        <p:spPr>
          <a:xfrm>
            <a:off x="480000" y="2340492"/>
            <a:ext cx="1417320" cy="430000"/>
          </a:xfrm>
          <a:prstGeom prst="rect">
            <a:avLst/>
          </a:prstGeom>
          <a:noFill/>
          <a:ln/>
        </p:spPr>
        <p:txBody>
          <a:bodyPr wrap="squar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Campus Bazaar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1" name="Icon13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940" y="2455492"/>
            <a:ext cx="200000" cy="200000"/>
          </a:xfrm>
          <a:prstGeom prst="rect">
            <a:avLst/>
          </a:prstGeom>
        </p:spPr>
      </p:pic>
      <p:pic>
        <p:nvPicPr>
          <p:cNvPr id="132" name="Icon13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85456" y="2455492"/>
            <a:ext cx="200000" cy="200000"/>
          </a:xfrm>
          <a:prstGeom prst="rect">
            <a:avLst/>
          </a:prstGeom>
        </p:spPr>
      </p:pic>
      <p:pic>
        <p:nvPicPr>
          <p:cNvPr id="133" name="Icon13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812" y="2455492"/>
            <a:ext cx="200000" cy="200000"/>
          </a:xfrm>
          <a:prstGeom prst="rect">
            <a:avLst/>
          </a:prstGeom>
        </p:spPr>
      </p:pic>
      <p:pic>
        <p:nvPicPr>
          <p:cNvPr id="134" name="Icon13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032" y="2455492"/>
            <a:ext cx="200000" cy="200000"/>
          </a:xfrm>
          <a:prstGeom prst="rect">
            <a:avLst/>
          </a:prstGeom>
        </p:spPr>
      </p:pic>
      <p:pic>
        <p:nvPicPr>
          <p:cNvPr id="135" name="Icon13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9976" y="2455492"/>
            <a:ext cx="200000" cy="200000"/>
          </a:xfrm>
          <a:prstGeom prst="rect">
            <a:avLst/>
          </a:prstGeom>
        </p:spPr>
      </p:pic>
      <p:pic>
        <p:nvPicPr>
          <p:cNvPr id="136" name="Icon13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620" y="2455492"/>
            <a:ext cx="200000" cy="200000"/>
          </a:xfrm>
          <a:prstGeom prst="rect">
            <a:avLst/>
          </a:prstGeom>
        </p:spPr>
      </p:pic>
      <p:sp>
        <p:nvSpPr>
          <p:cNvPr id="137" name="RowBand137"/>
          <p:cNvSpPr/>
          <p:nvPr/>
        </p:nvSpPr>
        <p:spPr>
          <a:xfrm>
            <a:off x="480000" y="2770492"/>
            <a:ext cx="5212080" cy="430000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138" name="RowLabel138"/>
          <p:cNvSpPr/>
          <p:nvPr/>
        </p:nvSpPr>
        <p:spPr>
          <a:xfrm>
            <a:off x="480000" y="2770492"/>
            <a:ext cx="1417320" cy="430000"/>
          </a:xfrm>
          <a:prstGeom prst="rect">
            <a:avLst/>
          </a:prstGeom>
          <a:noFill/>
          <a:ln/>
        </p:spPr>
        <p:txBody>
          <a:bodyPr wrap="square" lIns="8509" tIns="0" rIns="8509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Unitrade Market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9" name="Icon13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5940" y="2885492"/>
            <a:ext cx="200000" cy="200000"/>
          </a:xfrm>
          <a:prstGeom prst="rect">
            <a:avLst/>
          </a:prstGeom>
        </p:spPr>
      </p:pic>
      <p:pic>
        <p:nvPicPr>
          <p:cNvPr id="140" name="Icon14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5456" y="2885492"/>
            <a:ext cx="200000" cy="200000"/>
          </a:xfrm>
          <a:prstGeom prst="rect">
            <a:avLst/>
          </a:prstGeom>
        </p:spPr>
      </p:pic>
      <p:pic>
        <p:nvPicPr>
          <p:cNvPr id="141" name="Icon14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7812" y="2885492"/>
            <a:ext cx="200000" cy="200000"/>
          </a:xfrm>
          <a:prstGeom prst="rect">
            <a:avLst/>
          </a:prstGeom>
        </p:spPr>
      </p:pic>
      <p:pic>
        <p:nvPicPr>
          <p:cNvPr id="142" name="Icon14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65032" y="2885492"/>
            <a:ext cx="200000" cy="200000"/>
          </a:xfrm>
          <a:prstGeom prst="rect">
            <a:avLst/>
          </a:prstGeom>
        </p:spPr>
      </p:pic>
      <p:pic>
        <p:nvPicPr>
          <p:cNvPr id="143" name="Icon14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9976" y="2885492"/>
            <a:ext cx="200000" cy="200000"/>
          </a:xfrm>
          <a:prstGeom prst="rect">
            <a:avLst/>
          </a:prstGeom>
        </p:spPr>
      </p:pic>
      <p:pic>
        <p:nvPicPr>
          <p:cNvPr id="144" name="Icon14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40620" y="2885492"/>
            <a:ext cx="200000" cy="200000"/>
          </a:xfrm>
          <a:prstGeom prst="rect">
            <a:avLst/>
          </a:prstGeom>
        </p:spPr>
      </p:pic>
      <p:sp>
        <p:nvSpPr>
          <p:cNvPr id="48" name="Shape 21"/>
          <p:cNvSpPr/>
          <p:nvPr/>
        </p:nvSpPr>
        <p:spPr>
          <a:xfrm>
            <a:off x="5892080" y="1080492"/>
            <a:ext cx="2771920" cy="3119719"/>
          </a:xfrm>
          <a:prstGeom prst="rect">
            <a:avLst/>
          </a:prstGeom>
          <a:solidFill>
            <a:srgbClr val="FFFFFF">
              <a:alpha val="80000"/>
            </a:srgbClr>
          </a:solidFill>
          <a:ln w="9144">
            <a:solidFill>
              <a:srgbClr val="1C7293"/>
            </a:solidFill>
            <a:prstDash val="solid"/>
          </a:ln>
        </p:spPr>
      </p:sp>
      <p:sp>
        <p:nvSpPr>
          <p:cNvPr id="49" name="Text 22"/>
          <p:cNvSpPr/>
          <p:nvPr/>
        </p:nvSpPr>
        <p:spPr>
          <a:xfrm>
            <a:off x="6106392" y="1425234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RESEARCH GAP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6106392" y="1759204"/>
            <a:ext cx="2400000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Existing campus marketplaces solve only part of the problem. None combines </a:t>
            </a: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real-time communication</a:t>
            </a: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, </a:t>
            </a: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escrow protection</a:t>
            </a: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, </a:t>
            </a: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AI assistance</a:t>
            </a: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, </a:t>
            </a: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administration</a:t>
            </a: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, and </a:t>
            </a:r>
            <a:r>
              <a:rPr lang="en-US" sz="11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dispute management</a:t>
            </a: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in a single platform.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6078040" y="2910772"/>
            <a:ext cx="24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Unitrade Market is designed specifically for university students to fill this critical void.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962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10871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RESEARCH METHODOLOGY</a:t>
            </a:r>
            <a:endParaRPr lang="en-US" sz="2450" dirty="0">
              <a:solidFill>
                <a:srgbClr val="1C72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39638" y="1034614"/>
            <a:ext cx="42883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8476" y="1050661"/>
            <a:ext cx="1917450" cy="177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02944" y="1880745"/>
            <a:ext cx="6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91461" y="1956545"/>
            <a:ext cx="2203257" cy="177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048261" y="2800077"/>
            <a:ext cx="6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27138" y="2940192"/>
            <a:ext cx="65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5678" y="4060436"/>
            <a:ext cx="64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81252" y="4080451"/>
            <a:ext cx="2136648" cy="177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21969" y="4220533"/>
            <a:ext cx="1250156" cy="118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endParaRPr lang="en-US" sz="8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DDFCAC41-1E40-4D95-B462-A3155EFCF4AE}"/>
              </a:ext>
            </a:extLst>
          </p:cNvPr>
          <p:cNvSpPr/>
          <p:nvPr/>
        </p:nvSpPr>
        <p:spPr>
          <a:xfrm>
            <a:off x="6432333" y="606161"/>
            <a:ext cx="1713588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FEC8653F-2764-4695-81F0-820C4949E57A}"/>
              </a:ext>
            </a:extLst>
          </p:cNvPr>
          <p:cNvSpPr/>
          <p:nvPr/>
        </p:nvSpPr>
        <p:spPr>
          <a:xfrm>
            <a:off x="5668883" y="1498824"/>
            <a:ext cx="254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7FFC2668-BFFF-4D27-AB27-BE456B610FBD}"/>
              </a:ext>
            </a:extLst>
          </p:cNvPr>
          <p:cNvSpPr/>
          <p:nvPr/>
        </p:nvSpPr>
        <p:spPr>
          <a:xfrm>
            <a:off x="6301869" y="2539740"/>
            <a:ext cx="1799799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DF5FFF4D-C0FB-4B3F-898F-0A9519FE1A75}"/>
              </a:ext>
            </a:extLst>
          </p:cNvPr>
          <p:cNvSpPr/>
          <p:nvPr/>
        </p:nvSpPr>
        <p:spPr>
          <a:xfrm>
            <a:off x="5214937" y="3635951"/>
            <a:ext cx="1933222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53931F85-AE17-47B7-BE5C-27430FAE62DC}"/>
              </a:ext>
            </a:extLst>
          </p:cNvPr>
          <p:cNvSpPr/>
          <p:nvPr/>
        </p:nvSpPr>
        <p:spPr>
          <a:xfrm>
            <a:off x="753402" y="1088234"/>
            <a:ext cx="2879701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16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</a:rPr>
              <a:t>RESEARCH APPROACH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7AC8575E-E715-4B4A-81C2-A30E752EE127}"/>
              </a:ext>
            </a:extLst>
          </p:cNvPr>
          <p:cNvSpPr/>
          <p:nvPr/>
        </p:nvSpPr>
        <p:spPr>
          <a:xfrm>
            <a:off x="341644" y="1558945"/>
            <a:ext cx="4739863" cy="29826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Mixed-Methods Design</a:t>
            </a:r>
          </a:p>
          <a:p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Conducted a student survey using Google 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of survey responses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analysis of user feedback and opinions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literature review of existing marketplace solutions</a:t>
            </a:r>
          </a:p>
          <a:p>
            <a:pPr algn="l">
              <a:lnSpc>
                <a:spcPct val="160000"/>
              </a:lnSpc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25AF25-D830-474C-B6DE-776F6D72EDBD}"/>
              </a:ext>
            </a:extLst>
          </p:cNvPr>
          <p:cNvSpPr txBox="1"/>
          <p:nvPr/>
        </p:nvSpPr>
        <p:spPr>
          <a:xfrm>
            <a:off x="5282640" y="1593354"/>
            <a:ext cx="464233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Requirements Analysis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Identified 34 Functional 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Requirements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Identified 14 Non-Functional     Requirements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Defined system requirements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 based on survey findings and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 literature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996951" y="428625"/>
            <a:ext cx="4286250" cy="428625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1"/>
          <p:cNvSpPr/>
          <p:nvPr/>
        </p:nvSpPr>
        <p:spPr>
          <a:xfrm>
            <a:off x="-1165608" y="1916869"/>
            <a:ext cx="3096201" cy="861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28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Agile Scrum methodology</a:t>
            </a:r>
            <a:endParaRPr 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500" y="2967000"/>
            <a:ext cx="1880938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Iterative Agile Development Cycle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607561" y="2548384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07561" y="3298478"/>
            <a:ext cx="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07561" y="4048572"/>
            <a:ext cx="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EAC869A-4A65-4E92-B1B4-E1FA54DDBD39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0" b="10586"/>
          <a:stretch/>
        </p:blipFill>
        <p:spPr bwMode="auto">
          <a:xfrm>
            <a:off x="2440023" y="428625"/>
            <a:ext cx="6050642" cy="43945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67042"/>
            <a:ext cx="8572500" cy="32316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SYSTEM ARCHITECTURE: CLEINT –SERVER  </a:t>
            </a:r>
            <a:endParaRPr lang="en-US" sz="2100" dirty="0">
              <a:solidFill>
                <a:srgbClr val="1C72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738C0E8-8BD9-41D2-B851-FAD54F10A6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2" b="10230"/>
          <a:stretch/>
        </p:blipFill>
        <p:spPr bwMode="auto">
          <a:xfrm>
            <a:off x="582805" y="771886"/>
            <a:ext cx="7867860" cy="42979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3400425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IMPLEMENTED FEATURES</a:t>
            </a:r>
            <a:endParaRPr lang="en-US" sz="1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933152"/>
            <a:ext cx="142875" cy="1071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8656" y="921544"/>
            <a:ext cx="24061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Authentication &amp; Verification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149251"/>
            <a:ext cx="142875" cy="1071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8656" y="1137642"/>
            <a:ext cx="1308050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Marketplace Listings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365349"/>
            <a:ext cx="142875" cy="10715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8656" y="1353741"/>
            <a:ext cx="114935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Search &amp; Filtering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1581448"/>
            <a:ext cx="142875" cy="10715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78656" y="1569839"/>
            <a:ext cx="136197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Real-Time Messaging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797546"/>
            <a:ext cx="142875" cy="10715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78656" y="1785938"/>
            <a:ext cx="1440331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Audio &amp; Video Calling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13645"/>
            <a:ext cx="142875" cy="10715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78656" y="2002036"/>
            <a:ext cx="185935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Escrow Payment Transactions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229743"/>
            <a:ext cx="142875" cy="107156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78656" y="2218134"/>
            <a:ext cx="124604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Wallet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2445841"/>
            <a:ext cx="142875" cy="107156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678656" y="2434233"/>
            <a:ext cx="119904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Reviews &amp; Ratings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661940"/>
            <a:ext cx="142875" cy="107156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678656" y="2650331"/>
            <a:ext cx="75616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AI Assistant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878038"/>
            <a:ext cx="142875" cy="107156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678656" y="2866430"/>
            <a:ext cx="113332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Admin Dashboard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4543425" y="428625"/>
            <a:ext cx="417195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TECHNOLOGY STACK</a:t>
            </a:r>
            <a:endParaRPr lang="en-US" sz="1600" dirty="0">
              <a:solidFill>
                <a:srgbClr val="1C72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3"/>
          <p:cNvSpPr/>
          <p:nvPr/>
        </p:nvSpPr>
        <p:spPr>
          <a:xfrm>
            <a:off x="4543425" y="921544"/>
            <a:ext cx="2014538" cy="1000125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1075134"/>
            <a:ext cx="125016" cy="100013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4882753" y="1064419"/>
            <a:ext cx="79508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FRONTEND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4686300" y="1257300"/>
            <a:ext cx="1728788" cy="36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React 18, TypeScript, Tailwind CSS, Vite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6700838" y="921544"/>
            <a:ext cx="2014538" cy="1000125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3713" y="1075134"/>
            <a:ext cx="100013" cy="100013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7015163" y="1064419"/>
            <a:ext cx="70852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BACKEND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6843713" y="1257300"/>
            <a:ext cx="1728788" cy="17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Hono Framework, Deno.js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9"/>
          <p:cNvSpPr/>
          <p:nvPr/>
        </p:nvSpPr>
        <p:spPr>
          <a:xfrm>
            <a:off x="4543425" y="2064544"/>
            <a:ext cx="2014538" cy="1000125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6300" y="2218134"/>
            <a:ext cx="87511" cy="100013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4845248" y="2207419"/>
            <a:ext cx="77264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DATABASE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4686300" y="2400300"/>
            <a:ext cx="1261564" cy="175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PostgreSQL KV Store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6700838" y="2064544"/>
            <a:ext cx="2014538" cy="1000125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3713" y="2218134"/>
            <a:ext cx="125016" cy="100013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7040166" y="2207419"/>
            <a:ext cx="13497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COMMUNICATION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6843713" y="2400300"/>
            <a:ext cx="1296830" cy="364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WebRTC, WebSocket,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STUN/TURN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25"/>
          <p:cNvSpPr/>
          <p:nvPr/>
        </p:nvSpPr>
        <p:spPr>
          <a:xfrm>
            <a:off x="4543425" y="3207544"/>
            <a:ext cx="2014538" cy="1000125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1C7293"/>
            </a:solidFill>
            <a:prstDash val="solid"/>
          </a:ln>
        </p:spPr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6300" y="3361134"/>
            <a:ext cx="125016" cy="100013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4882753" y="3350419"/>
            <a:ext cx="66043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AI &amp; PAY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27"/>
          <p:cNvSpPr/>
          <p:nvPr/>
        </p:nvSpPr>
        <p:spPr>
          <a:xfrm>
            <a:off x="4686300" y="3543300"/>
            <a:ext cx="1728788" cy="36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OpenAI, Gemini, Fapshi Mobile Money 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28"/>
          <p:cNvSpPr/>
          <p:nvPr/>
        </p:nvSpPr>
        <p:spPr>
          <a:xfrm>
            <a:off x="6700838" y="3207544"/>
            <a:ext cx="2014538" cy="1000125"/>
          </a:xfrm>
          <a:prstGeom prst="rect">
            <a:avLst/>
          </a:prstGeom>
          <a:solidFill>
            <a:srgbClr val="21295C"/>
          </a:solidFill>
          <a:ln w="9144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3713" y="3361134"/>
            <a:ext cx="100013" cy="100013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7015163" y="3320419"/>
            <a:ext cx="184308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0F0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HOSTING &amp; DOMAIN NAME</a:t>
            </a:r>
            <a:endParaRPr lang="en-US" sz="11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6843713" y="3730000"/>
            <a:ext cx="923330" cy="364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Vercel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, Render,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NameCheap</a:t>
            </a:r>
            <a:endParaRPr lang="en-US" sz="1100" dirty="0">
              <a:solidFill>
                <a:srgbClr val="FFFFFF"/>
              </a:solidFill>
              <a:latin typeface="Times New Roman" panose="02020603050405020304" pitchFamily="18" charset="0"/>
              <a:ea typeface="Montserrat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64CAEC3B-7061-4959-B4E1-6FB627DAEAFD}"/>
              </a:ext>
            </a:extLst>
          </p:cNvPr>
          <p:cNvSpPr/>
          <p:nvPr/>
        </p:nvSpPr>
        <p:spPr>
          <a:xfrm>
            <a:off x="6629913" y="4279900"/>
            <a:ext cx="2085463" cy="384969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1C7293"/>
            </a:solidFill>
            <a:prstDash val="solid"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7CF7B2D5-D2ED-428F-AE32-8EAD3EAD58AB}"/>
              </a:ext>
            </a:extLst>
          </p:cNvPr>
          <p:cNvSpPr/>
          <p:nvPr/>
        </p:nvSpPr>
        <p:spPr>
          <a:xfrm>
            <a:off x="4543425" y="4279900"/>
            <a:ext cx="2014538" cy="384969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1C7293"/>
            </a:solidFill>
            <a:prstDash val="solid"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1C7293"/>
                </a:solidFill>
                <a:latin typeface="Montserrat ExtraBold" panose="00000900000000000000" pitchFamily="2" charset="0"/>
              </a:rPr>
              <a:t>Native</a:t>
            </a:r>
            <a:r>
              <a:rPr lang="en-US" sz="1100" b="1" dirty="0">
                <a:solidFill>
                  <a:srgbClr val="1C7293"/>
                </a:solidFill>
                <a:latin typeface="Montserrat" panose="00000500000000000000" pitchFamily="2" charset="0"/>
              </a:rPr>
              <a:t>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0A2D23F9-CA7E-42C3-B0BD-81EA5E36B84F}"/>
              </a:ext>
            </a:extLst>
          </p:cNvPr>
          <p:cNvSpPr txBox="1"/>
          <p:nvPr/>
        </p:nvSpPr>
        <p:spPr>
          <a:xfrm>
            <a:off x="1580103" y="2387712"/>
            <a:ext cx="59837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&amp; DISCUSSION LIVE DEMO</a:t>
            </a:r>
            <a:endParaRPr lang="en-US" sz="3200" dirty="0">
              <a:solidFill>
                <a:srgbClr val="1C72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5929313" y="357188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2963" y="2009570"/>
            <a:ext cx="4371975" cy="43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"Innovation distinguishes between a leader and a follower."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42963" y="2636769"/>
            <a:ext cx="437197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C729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— STEVE JOBS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73261" y="3070724"/>
            <a:ext cx="4643438" cy="149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Unitrade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was developed to address a real challenge faced by university students: the difficulty of buying and selling essential items in a secure, affordable, and trustworthy manner. Through the integration of real-time communication, escrow order management, AI-assisted trading, and administrative governance, the platform transforms informal student trading into a structured digital marketplace designed specifically for the university community.</a:t>
            </a:r>
          </a:p>
          <a:p>
            <a:pPr marL="0" indent="0" algn="l">
              <a:lnSpc>
                <a:spcPct val="12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59636" y="1785938"/>
            <a:ext cx="2912864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3300" b="1" dirty="0">
                <a:solidFill>
                  <a:srgbClr val="00B0F0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THANK YOU</a:t>
            </a:r>
            <a:endParaRPr lang="en-US" sz="33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131892" y="2721407"/>
            <a:ext cx="2912864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Questions &amp; Answers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14CE7B0-5360-41D3-AC1D-E02BCB2D67C5}"/>
              </a:ext>
            </a:extLst>
          </p:cNvPr>
          <p:cNvSpPr/>
          <p:nvPr/>
        </p:nvSpPr>
        <p:spPr>
          <a:xfrm>
            <a:off x="502920" y="10972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3000" dirty="0">
              <a:solidFill>
                <a:srgbClr val="1C72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2343</TotalTime>
  <Words>686</Words>
  <Application>Microsoft Office PowerPoint</Application>
  <PresentationFormat>On-screen Show (16:9)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Montserrat</vt:lpstr>
      <vt:lpstr>Montserrat ExtraBold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Nkinyam</cp:lastModifiedBy>
  <cp:revision>39</cp:revision>
  <dcterms:created xsi:type="dcterms:W3CDTF">2026-06-26T15:04:12Z</dcterms:created>
  <dcterms:modified xsi:type="dcterms:W3CDTF">2026-06-29T05:58:51Z</dcterms:modified>
</cp:coreProperties>
</file>